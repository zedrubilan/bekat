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010488ec-b918-d567-0f03-5c3f5b356572}">
          <p14:sldIdLst>
            <p14:sldId id="256"/>
          </p14:sldIdLst>
        </p14:section>
        <p14:section name="Проблема" id="{d68d2232-77ea-31aa-096d-64121725696b}">
          <p14:sldIdLst>
            <p14:sldId id="257"/>
          </p14:sldIdLst>
        </p14:section>
        <p14:section name="Решение" id="{cfe7355d-dfb0-0546-8445-4f5cbacd4bfd}">
          <p14:sldIdLst>
            <p14:sldId id="258"/>
          </p14:sldIdLst>
        </p14:section>
        <p14:section name="Технология" id="{30369738-bbf9-903f-57d2-05ebdb7d9824}">
          <p14:sldIdLst>
            <p14:sldId id="259"/>
          </p14:sldIdLst>
        </p14:section>
        <p14:section name="Ценность" id="{aa3819ff-090e-439d-386a-07fe6857da83}">
          <p14:sldIdLst>
            <p14:sldId id="260"/>
          </p14:sldIdLst>
        </p14:section>
        <p14:section name="Bekat 2.0" id="{c12b10ce-a966-e485-dbc4-de820cd80346}">
          <p14:sldIdLst>
            <p14:sldId id="261"/>
          </p14:sldIdLst>
        </p14:section>
        <p14:section name="Следующий шаг" id="{fd13f965-91a3-48ca-f434-9f651246aca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— Кодиров Улугбек и Замалитдинов Салим, НамГТУ. Наш проект — Bekat, умная карта автобусных маршрутов Намангана. Она отвечает на простой вопрос пассажира: как доехать — даже если прямого автобуса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Намангане больше 730 тысяч жителей, по городу ходят 130 современных автобусов, 10 маршрутов работают по брутто-контракту. Но на открытой карте OpenStreetMap нет ни одного маршрута города. Если прямого автобуса нет, пассажир не знает, где пересесть, и едет на такси. А чтобы узнать, когда идёт автобус в Чуст, нужно состоять в Telegram-группе автовокзала.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Пассажир просто выбирает, куда ему нужно. Bekat ищет место по названию — латиницей или кириллицей, предлагает варианты пути: автобус, пересадка и пешком, с временем в минутах, а в пути показывает остановки и сколько осталось ехать.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идея — вся автобусная сеть на одной схеме, как карта метро: сразу видно, где маршруты пересекаются. Внутри работает алгоритм RAPTOR: он находит путь с пересадками прямо в телефоне, без интернета, меньше чем за секунду. А если до места автобус не идёт, Bekat ведёт до ближайшей остановки. Честно: подтверждены маршруты 1–3, остальные — пример до полевого сбора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Яндекс Карты уже показывают автобусы в Намангане — мы это признаём. Наше отличие — схема всей сети, режим «ближайшая точка», открытая база маршрутов, а дальше — табло, маршруты дамасов от жителей и анонимная карта спроса для хокимията: где люди ищут маршрут, но автобуса нет. Эти три функции уже есть в прототипе как пример на демо-данных. Для жителей приложение бесплатно, хокимият может получать аналитику по годовой подписке, а перевозчики — больше пассажиров.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Следующие этапы мы уже можем показать вживую — на демо-данных. Первое: табло на остановке. Это та же веб-страница приложения, ей хватает дешёвого экрана с браузером: какой автобус через сколько минут, куда он идёт, а на автовокзале — междугородние рейсы, которые сейчас знают только в Telegram-группах. Второе: экран в салоне — следующая остановка крупно и где пересесть. Третье: карта спроса для хокимията — где люди ищут маршрут, но автобуса нет; это довод, где нужна новая остановка. И четвёртое: дамасы и маршрутки, которые добавляют и подтверждают сами жители. Все цифры на этих экранах — пример.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 уже работает на Android, iPhone и в браузере: 6 маршрутов, из них 3 подтверждены, 36 остановок и 69 мест в поиске. Дальше — собрать с GPS все маршруты города и междугородние рейсы, провести пилот со 100+ пассажирами, открыть маршруты от жителей и карту спроса, затем подключить GPS автобусов и табло на остановках и выйти в Андижан и Фергану. Отсканируйте QR-код — и попробуйте сами.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394960" y="411480"/>
            <a:ext cx="6126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394960" y="777240"/>
            <a:ext cx="61264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овый круг"/>
          <p:cNvSpPr/>
          <p:nvPr/>
        </p:nvSpPr>
        <p:spPr>
          <a:xfrm>
            <a:off x="6949440" y="-822960"/>
            <a:ext cx="6035040" cy="603504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pic>
        <p:nvPicPr>
          <p:cNvPr id="3" name="Значок Bekat" descr="/home/abraxis/Desktop/Bekat/docs/studexpo/assets/icon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777240" cy="777240"/>
          </a:xfrm>
          <a:prstGeom prst="rect">
            <a:avLst/>
          </a:prstGeom>
        </p:spPr>
      </p:pic>
      <p:sp>
        <p:nvSpPr>
          <p:cNvPr id="4" name="Метка"/>
          <p:cNvSpPr txBox="1"/>
          <p:nvPr/>
        </p:nvSpPr>
        <p:spPr>
          <a:xfrm>
            <a:off x="1645920" y="5943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STUDEXPO-2026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Мобильные и веб-приложения</a:t>
            </a:r>
            <a:endParaRPr lang="en-US" sz="1500" dirty="0"/>
          </a:p>
        </p:txBody>
      </p:sp>
      <p:sp>
        <p:nvSpPr>
          <p:cNvPr id="5" name="Название"/>
          <p:cNvSpPr txBox="1"/>
          <p:nvPr/>
        </p:nvSpPr>
        <p:spPr>
          <a:xfrm>
            <a:off x="640080" y="16916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Bekat</a:t>
            </a:r>
            <a:endParaRPr lang="en-US" sz="8000" dirty="0"/>
          </a:p>
        </p:txBody>
      </p:sp>
      <p:sp>
        <p:nvSpPr>
          <p:cNvPr id="6" name="Подзаголовок"/>
          <p:cNvSpPr txBox="1"/>
          <p:nvPr/>
        </p:nvSpPr>
        <p:spPr>
          <a:xfrm>
            <a:off x="640080" y="29260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Умная карта автобусных маршрутов Намангана: путь даже с пересадками</a:t>
            </a:r>
            <a:endParaRPr lang="en-US" sz="2600" dirty="0"/>
          </a:p>
        </p:txBody>
      </p:sp>
      <p:sp>
        <p:nvSpPr>
          <p:cNvPr id="7" name="Маршрут 1"/>
          <p:cNvSpPr txBox="1"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Маршрут 2"/>
          <p:cNvSpPr txBox="1"/>
          <p:nvPr/>
        </p:nvSpPr>
        <p:spPr>
          <a:xfrm>
            <a:off x="1325880" y="4251960"/>
            <a:ext cx="502920" cy="502920"/>
          </a:xfrm>
          <a:prstGeom prst="ellipse">
            <a:avLst/>
          </a:prstGeom>
          <a:solidFill>
            <a:srgbClr val="1E6F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Маршрут 3"/>
          <p:cNvSpPr txBox="1"/>
          <p:nvPr/>
        </p:nvSpPr>
        <p:spPr>
          <a:xfrm>
            <a:off x="2011680" y="4251960"/>
            <a:ext cx="502920" cy="502920"/>
          </a:xfrm>
          <a:prstGeom prst="ellipse">
            <a:avLst/>
          </a:prstGeom>
          <a:solidFill>
            <a:srgbClr val="22A5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0" name="Маршрут 5"/>
          <p:cNvSpPr txBox="1"/>
          <p:nvPr/>
        </p:nvSpPr>
        <p:spPr>
          <a:xfrm>
            <a:off x="2697480" y="42519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1" name="Маршрут 7"/>
          <p:cNvSpPr txBox="1"/>
          <p:nvPr/>
        </p:nvSpPr>
        <p:spPr>
          <a:xfrm>
            <a:off x="3383280" y="42519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7</a:t>
            </a:r>
            <a:endParaRPr lang="en-US" sz="1700" dirty="0"/>
          </a:p>
        </p:txBody>
      </p:sp>
      <p:sp>
        <p:nvSpPr>
          <p:cNvPr id="12" name="Маршрут 9"/>
          <p:cNvSpPr txBox="1"/>
          <p:nvPr/>
        </p:nvSpPr>
        <p:spPr>
          <a:xfrm>
            <a:off x="4069080" y="42519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9</a:t>
            </a:r>
            <a:endParaRPr lang="en-US" sz="1700" dirty="0"/>
          </a:p>
        </p:txBody>
      </p:sp>
      <p:sp>
        <p:nvSpPr>
          <p:cNvPr id="13" name="Авторы"/>
          <p:cNvSpPr txBox="1"/>
          <p:nvPr/>
        </p:nvSpPr>
        <p:spPr>
          <a:xfrm>
            <a:off x="640080" y="56235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Кодиров Улугбек · Замалитдинов Салим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НамГТУ, группа 37-АТТ-23 (r)</a:t>
            </a:r>
            <a:endParaRPr lang="en-US" sz="1500" dirty="0"/>
          </a:p>
        </p:txBody>
      </p:sp>
      <p:pic>
        <p:nvPicPr>
          <p:cNvPr id="14" name="Варианты пути" descr="Скриншот приложения: Варианты пут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71600"/>
            <a:ext cx="2570064" cy="49377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pic>
      <p:pic>
        <p:nvPicPr>
          <p:cNvPr id="15" name="Главный экран" descr="Скриншот приложения: Главный экра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640080"/>
            <a:ext cx="2903220" cy="55778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ПРОБЛЕМА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«Какой автобус? Где пересесть?»</a:t>
            </a:r>
            <a:endParaRPr lang="en-US" sz="3600" dirty="0"/>
          </a:p>
        </p:txBody>
      </p:sp>
      <p:sp>
        <p:nvSpPr>
          <p:cNvPr id="4" name="Факт 1"/>
          <p:cNvSpPr/>
          <p:nvPr/>
        </p:nvSpPr>
        <p:spPr>
          <a:xfrm>
            <a:off x="640080" y="1783080"/>
            <a:ext cx="2521458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5171C">
                <a:alpha val="12000"/>
              </a:srgbClr>
            </a:outerShdw>
          </a:effectLst>
        </p:spPr>
      </p:sp>
      <p:sp>
        <p:nvSpPr>
          <p:cNvPr id="5" name="Факт 1 текст"/>
          <p:cNvSpPr txBox="1"/>
          <p:nvPr/>
        </p:nvSpPr>
        <p:spPr>
          <a:xfrm>
            <a:off x="868680" y="1783080"/>
            <a:ext cx="22014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731,3 тыс.</a:t>
            </a:r>
            <a:endParaRPr lang="en-US" sz="34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жителей Намангана</a:t>
            </a:r>
            <a:endParaRPr lang="en-US" sz="3400" dirty="0"/>
          </a:p>
        </p:txBody>
      </p:sp>
      <p:sp>
        <p:nvSpPr>
          <p:cNvPr id="6" name="Факт 2"/>
          <p:cNvSpPr/>
          <p:nvPr/>
        </p:nvSpPr>
        <p:spPr>
          <a:xfrm>
            <a:off x="3435858" y="1783080"/>
            <a:ext cx="2521458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5171C">
                <a:alpha val="12000"/>
              </a:srgbClr>
            </a:outerShdw>
          </a:effectLst>
        </p:spPr>
      </p:sp>
      <p:sp>
        <p:nvSpPr>
          <p:cNvPr id="7" name="Факт 2 текст"/>
          <p:cNvSpPr txBox="1"/>
          <p:nvPr/>
        </p:nvSpPr>
        <p:spPr>
          <a:xfrm>
            <a:off x="3664458" y="1783080"/>
            <a:ext cx="22014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130</a:t>
            </a:r>
            <a:endParaRPr lang="en-US" sz="34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современных автобусов</a:t>
            </a:r>
            <a:endParaRPr lang="en-US" sz="3400" dirty="0"/>
          </a:p>
        </p:txBody>
      </p:sp>
      <p:sp>
        <p:nvSpPr>
          <p:cNvPr id="8" name="Факт 3"/>
          <p:cNvSpPr/>
          <p:nvPr/>
        </p:nvSpPr>
        <p:spPr>
          <a:xfrm>
            <a:off x="6231636" y="1783080"/>
            <a:ext cx="2521458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5171C">
                <a:alpha val="12000"/>
              </a:srgbClr>
            </a:outerShdw>
          </a:effectLst>
        </p:spPr>
      </p:sp>
      <p:sp>
        <p:nvSpPr>
          <p:cNvPr id="9" name="Факт 3 текст"/>
          <p:cNvSpPr txBox="1"/>
          <p:nvPr/>
        </p:nvSpPr>
        <p:spPr>
          <a:xfrm>
            <a:off x="6460236" y="1783080"/>
            <a:ext cx="22014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</a:t>
            </a:r>
            <a:endParaRPr lang="en-US" sz="34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маршрутов по брутто-контракту</a:t>
            </a:r>
            <a:endParaRPr lang="en-US" sz="3400" dirty="0"/>
          </a:p>
        </p:txBody>
      </p:sp>
      <p:sp>
        <p:nvSpPr>
          <p:cNvPr id="10" name="Факт 4"/>
          <p:cNvSpPr/>
          <p:nvPr/>
        </p:nvSpPr>
        <p:spPr>
          <a:xfrm>
            <a:off x="9027414" y="1783080"/>
            <a:ext cx="2521458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5171C">
                <a:alpha val="12000"/>
              </a:srgbClr>
            </a:outerShdw>
          </a:effectLst>
        </p:spPr>
      </p:sp>
      <p:sp>
        <p:nvSpPr>
          <p:cNvPr id="11" name="Факт 4 текст"/>
          <p:cNvSpPr txBox="1"/>
          <p:nvPr/>
        </p:nvSpPr>
        <p:spPr>
          <a:xfrm>
            <a:off x="9256014" y="1783080"/>
            <a:ext cx="22014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0</a:t>
            </a:r>
            <a:endParaRPr lang="en-US" sz="34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маршрутов на открытой карте (OSM)</a:t>
            </a:r>
            <a:endParaRPr lang="en-US" sz="3400" dirty="0"/>
          </a:p>
        </p:txBody>
      </p:sp>
      <p:sp>
        <p:nvSpPr>
          <p:cNvPr id="12" name="Проблема 1 круг"/>
          <p:cNvSpPr/>
          <p:nvPr/>
        </p:nvSpPr>
        <p:spPr>
          <a:xfrm>
            <a:off x="640080" y="4160520"/>
            <a:ext cx="594360" cy="59436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3" name="Проблема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4291279"/>
            <a:ext cx="332842" cy="332842"/>
          </a:xfrm>
          <a:prstGeom prst="rect">
            <a:avLst/>
          </a:prstGeom>
        </p:spPr>
      </p:pic>
      <p:sp>
        <p:nvSpPr>
          <p:cNvPr id="14" name="Проблема 1 текст"/>
          <p:cNvSpPr txBox="1"/>
          <p:nvPr/>
        </p:nvSpPr>
        <p:spPr>
          <a:xfrm>
            <a:off x="1417320" y="4133088"/>
            <a:ext cx="2630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Маршруты меняются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автобусов всё больше, схемы движения обновляются</a:t>
            </a:r>
            <a:endParaRPr lang="en-US" sz="1800" dirty="0"/>
          </a:p>
        </p:txBody>
      </p:sp>
      <p:sp>
        <p:nvSpPr>
          <p:cNvPr id="15" name="Проблема 2 круг"/>
          <p:cNvSpPr/>
          <p:nvPr/>
        </p:nvSpPr>
        <p:spPr>
          <a:xfrm>
            <a:off x="4367784" y="4160520"/>
            <a:ext cx="594360" cy="59436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6" name="Проблема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543" y="4291279"/>
            <a:ext cx="332842" cy="332842"/>
          </a:xfrm>
          <a:prstGeom prst="rect">
            <a:avLst/>
          </a:prstGeom>
        </p:spPr>
      </p:pic>
      <p:sp>
        <p:nvSpPr>
          <p:cNvPr id="17" name="Проблема 2 текст"/>
          <p:cNvSpPr txBox="1"/>
          <p:nvPr/>
        </p:nvSpPr>
        <p:spPr>
          <a:xfrm>
            <a:off x="5145024" y="4133088"/>
            <a:ext cx="2630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Нет прямого автобуса — такси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пассажир не знает, где можно пересесть</a:t>
            </a:r>
            <a:endParaRPr lang="en-US" sz="1800" dirty="0"/>
          </a:p>
        </p:txBody>
      </p:sp>
      <p:sp>
        <p:nvSpPr>
          <p:cNvPr id="18" name="Проблема 3 круг"/>
          <p:cNvSpPr/>
          <p:nvPr/>
        </p:nvSpPr>
        <p:spPr>
          <a:xfrm>
            <a:off x="8095488" y="4160520"/>
            <a:ext cx="594360" cy="59436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9" name="Проблема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247" y="4291279"/>
            <a:ext cx="332842" cy="332842"/>
          </a:xfrm>
          <a:prstGeom prst="rect">
            <a:avLst/>
          </a:prstGeom>
        </p:spPr>
      </p:pic>
      <p:sp>
        <p:nvSpPr>
          <p:cNvPr id="20" name="Проблема 3 текст"/>
          <p:cNvSpPr txBox="1"/>
          <p:nvPr/>
        </p:nvSpPr>
        <p:spPr>
          <a:xfrm>
            <a:off x="8872728" y="4133088"/>
            <a:ext cx="2630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Расписание — в Telegram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междугородние рейсы (Наманган–Чуст) знают только в группах вокзалов</a:t>
            </a:r>
            <a:endParaRPr lang="en-US" sz="1800" dirty="0"/>
          </a:p>
        </p:txBody>
      </p:sp>
      <p:sp>
        <p:nvSpPr>
          <p:cNvPr id="21" name="Источники"/>
          <p:cNvSpPr txBox="1"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Источники: namstat.uz (01.04.2026), yuz.uz (03.10.2026), gazeta.uz (24.09.2026), запрос к OpenStreetMap (14.10.2026)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РЕШЕНИЕ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Выберите место — увидите путь</a:t>
            </a:r>
            <a:endParaRPr lang="en-US" sz="3600" dirty="0"/>
          </a:p>
        </p:txBody>
      </p:sp>
      <p:pic>
        <p:nvPicPr>
          <p:cNvPr id="4" name="Поиск места" descr="Скриншот приложения: Поиск мес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463" y="1691640"/>
            <a:ext cx="1879954" cy="36118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pic>
      <p:sp>
        <p:nvSpPr>
          <p:cNvPr id="5" name="Функция 1 круг"/>
          <p:cNvSpPr/>
          <p:nvPr/>
        </p:nvSpPr>
        <p:spPr>
          <a:xfrm>
            <a:off x="640080" y="5486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Функция 1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5597042"/>
            <a:ext cx="281635" cy="281635"/>
          </a:xfrm>
          <a:prstGeom prst="rect">
            <a:avLst/>
          </a:prstGeom>
        </p:spPr>
      </p:pic>
      <p:sp>
        <p:nvSpPr>
          <p:cNvPr id="7" name="Функция 1 текст"/>
          <p:cNvSpPr txBox="1"/>
          <p:nvPr/>
        </p:nvSpPr>
        <p:spPr>
          <a:xfrm>
            <a:off x="1280160" y="54406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Поиск места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69 мест: остановки, рынки, вузы — латиницей и кириллицей</a:t>
            </a:r>
            <a:endParaRPr lang="en-US" sz="1800" dirty="0"/>
          </a:p>
        </p:txBody>
      </p:sp>
      <p:pic>
        <p:nvPicPr>
          <p:cNvPr id="8" name="Варианты пути" descr="Скриншот приложения: Варианты пут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499" y="1691640"/>
            <a:ext cx="1879954" cy="36118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pic>
      <p:sp>
        <p:nvSpPr>
          <p:cNvPr id="9" name="Функция 2 круг"/>
          <p:cNvSpPr/>
          <p:nvPr/>
        </p:nvSpPr>
        <p:spPr>
          <a:xfrm>
            <a:off x="4357116" y="5486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Функция 2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758" y="5597042"/>
            <a:ext cx="281635" cy="281635"/>
          </a:xfrm>
          <a:prstGeom prst="rect">
            <a:avLst/>
          </a:prstGeom>
        </p:spPr>
      </p:pic>
      <p:sp>
        <p:nvSpPr>
          <p:cNvPr id="11" name="Функция 2 текст"/>
          <p:cNvSpPr txBox="1"/>
          <p:nvPr/>
        </p:nvSpPr>
        <p:spPr>
          <a:xfrm>
            <a:off x="4997196" y="54406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Варианты пути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автобус + пересадка + пешком, время в минутах</a:t>
            </a:r>
            <a:endParaRPr lang="en-US" sz="1800" dirty="0"/>
          </a:p>
        </p:txBody>
      </p:sp>
      <p:pic>
        <p:nvPicPr>
          <p:cNvPr id="12" name="В пути" descr="Скриншот приложения: В пут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535" y="1691640"/>
            <a:ext cx="1879954" cy="36118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pic>
      <p:sp>
        <p:nvSpPr>
          <p:cNvPr id="13" name="Функция 3 круг"/>
          <p:cNvSpPr/>
          <p:nvPr/>
        </p:nvSpPr>
        <p:spPr>
          <a:xfrm>
            <a:off x="8074152" y="5486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Функция 3 иконка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794" y="5597042"/>
            <a:ext cx="281635" cy="281635"/>
          </a:xfrm>
          <a:prstGeom prst="rect">
            <a:avLst/>
          </a:prstGeom>
        </p:spPr>
      </p:pic>
      <p:sp>
        <p:nvSpPr>
          <p:cNvPr id="15" name="Функция 3 текст"/>
          <p:cNvSpPr txBox="1"/>
          <p:nvPr/>
        </p:nvSpPr>
        <p:spPr>
          <a:xfrm>
            <a:off x="8714232" y="54406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 пути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остановки и время до цели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ГЛАВНАЯ ИДЕЯ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Вся сеть — на одной схеме, как в метро</a:t>
            </a:r>
            <a:endParaRPr lang="en-US" sz="3600" dirty="0"/>
          </a:p>
        </p:txBody>
      </p:sp>
      <p:sp>
        <p:nvSpPr>
          <p:cNvPr id="4" name="Рамка схемы"/>
          <p:cNvSpPr/>
          <p:nvPr/>
        </p:nvSpPr>
        <p:spPr>
          <a:xfrm>
            <a:off x="640080" y="1737360"/>
            <a:ext cx="6903720" cy="4727448"/>
          </a:xfrm>
          <a:prstGeom prst="roundRect">
            <a:avLst>
              <a:gd name="adj" fmla="val 23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5171C">
                <a:alpha val="12000"/>
              </a:srgbClr>
            </a:outerShdw>
          </a:effectLst>
        </p:spPr>
      </p:sp>
      <p:pic>
        <p:nvPicPr>
          <p:cNvPr id="5" name="Схема маршрутов" descr="Схема автобусных маршрутов Намангана в стиле метр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28800"/>
            <a:ext cx="6126480" cy="4186428"/>
          </a:xfrm>
          <a:prstGeom prst="rect">
            <a:avLst/>
          </a:prstGeom>
        </p:spPr>
      </p:pic>
      <p:sp>
        <p:nvSpPr>
          <p:cNvPr id="6" name="Пометка о данных"/>
          <p:cNvSpPr txBox="1"/>
          <p:nvPr/>
        </p:nvSpPr>
        <p:spPr>
          <a:xfrm>
            <a:off x="868680" y="60807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№1–3 — подтверждённые маршруты; №5, 7, 9 и промежуточные остановки — пример</a:t>
            </a:r>
            <a:endParaRPr lang="en-US" sz="1100" dirty="0"/>
          </a:p>
        </p:txBody>
      </p:sp>
      <p:sp>
        <p:nvSpPr>
          <p:cNvPr id="7" name="Идея 1 круг"/>
          <p:cNvSpPr/>
          <p:nvPr/>
        </p:nvSpPr>
        <p:spPr>
          <a:xfrm>
            <a:off x="7909560" y="178308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8" name="Идея 1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261" y="1903781"/>
            <a:ext cx="307238" cy="307238"/>
          </a:xfrm>
          <a:prstGeom prst="rect">
            <a:avLst/>
          </a:prstGeom>
        </p:spPr>
      </p:pic>
      <p:sp>
        <p:nvSpPr>
          <p:cNvPr id="9" name="Идея 1 текст"/>
          <p:cNvSpPr txBox="1"/>
          <p:nvPr/>
        </p:nvSpPr>
        <p:spPr>
          <a:xfrm>
            <a:off x="8641080" y="17373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Пересадки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алгоритм RAPTOR соединяет несколько маршрутов</a:t>
            </a:r>
            <a:endParaRPr lang="en-US" sz="1800" dirty="0"/>
          </a:p>
        </p:txBody>
      </p:sp>
      <p:sp>
        <p:nvSpPr>
          <p:cNvPr id="10" name="Идея 2 круг"/>
          <p:cNvSpPr/>
          <p:nvPr/>
        </p:nvSpPr>
        <p:spPr>
          <a:xfrm>
            <a:off x="7909560" y="297180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Идея 2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61" y="3092501"/>
            <a:ext cx="307238" cy="307238"/>
          </a:xfrm>
          <a:prstGeom prst="rect">
            <a:avLst/>
          </a:prstGeom>
        </p:spPr>
      </p:pic>
      <p:sp>
        <p:nvSpPr>
          <p:cNvPr id="12" name="Идея 2 текст"/>
          <p:cNvSpPr txBox="1"/>
          <p:nvPr/>
        </p:nvSpPr>
        <p:spPr>
          <a:xfrm>
            <a:off x="8641080" y="2926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Ближайшая точка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куда автобус не идёт — до ближайшей остановки</a:t>
            </a:r>
            <a:endParaRPr lang="en-US" sz="1800" dirty="0"/>
          </a:p>
        </p:txBody>
      </p:sp>
      <p:sp>
        <p:nvSpPr>
          <p:cNvPr id="13" name="Идея 3 круг"/>
          <p:cNvSpPr/>
          <p:nvPr/>
        </p:nvSpPr>
        <p:spPr>
          <a:xfrm>
            <a:off x="7909560" y="416052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4" name="Идея 3 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261" y="4281221"/>
            <a:ext cx="307238" cy="307238"/>
          </a:xfrm>
          <a:prstGeom prst="rect">
            <a:avLst/>
          </a:prstGeom>
        </p:spPr>
      </p:pic>
      <p:sp>
        <p:nvSpPr>
          <p:cNvPr id="15" name="Идея 3 текст"/>
          <p:cNvSpPr txBox="1"/>
          <p:nvPr/>
        </p:nvSpPr>
        <p:spPr>
          <a:xfrm>
            <a:off x="8641080" y="4114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 телефоне, без интернета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маршрут считается меньше чем за секунду</a:t>
            </a:r>
            <a:endParaRPr lang="en-US" sz="1800" dirty="0"/>
          </a:p>
        </p:txBody>
      </p:sp>
      <p:sp>
        <p:nvSpPr>
          <p:cNvPr id="16" name="Идея 4 круг"/>
          <p:cNvSpPr/>
          <p:nvPr/>
        </p:nvSpPr>
        <p:spPr>
          <a:xfrm>
            <a:off x="7909560" y="5349240"/>
            <a:ext cx="548640" cy="5486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Идея 4 иконк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261" y="5469941"/>
            <a:ext cx="307238" cy="307238"/>
          </a:xfrm>
          <a:prstGeom prst="rect">
            <a:avLst/>
          </a:prstGeom>
        </p:spPr>
      </p:pic>
      <p:sp>
        <p:nvSpPr>
          <p:cNvPr id="18" name="Идея 4 текст"/>
          <p:cNvSpPr txBox="1"/>
          <p:nvPr/>
        </p:nvSpPr>
        <p:spPr>
          <a:xfrm>
            <a:off x="8641080" y="5303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3D-карта города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MapLibre + OpenStreetMap, автобусы по расписанию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ЧЕМ ОТЛИЧАЕТСЯ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Не ещё одна карта, а схема сети и данные для города</a:t>
            </a:r>
            <a:endParaRPr lang="en-US" sz="3600" dirty="0"/>
          </a:p>
        </p:txBody>
      </p:sp>
      <p:graphicFrame>
        <p:nvGraphicFramePr>
          <p:cNvPr id="6" name="Сравнение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  <a:gridCol w="19202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Яндекс Карты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Bekat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Схема всей сети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нет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есть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Режим «ближайшая точка»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нет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есть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Карта спроса для хокимията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нет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пример ✓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Табло и экран в автобусе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нет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пример ✓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Дамасы и маршрутки от жителей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нет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пример ✓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База маршрутов Намангана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закрытая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открытая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Живые автобусы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есть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GPS — 2-й этап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Сравнение заголовок"/>
          <p:cNvSpPr txBox="1"/>
          <p:nvPr/>
        </p:nvSpPr>
        <p:spPr>
          <a:xfrm>
            <a:off x="640080" y="1783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Bekat против Яндекс Карт</a:t>
            </a:r>
            <a:endParaRPr lang="en-US" sz="1500" dirty="0"/>
          </a:p>
        </p:txBody>
      </p:sp>
      <p:sp>
        <p:nvSpPr>
          <p:cNvPr id="6" name="Модель заголовок"/>
          <p:cNvSpPr txBox="1"/>
          <p:nvPr/>
        </p:nvSpPr>
        <p:spPr>
          <a:xfrm>
            <a:off x="80010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Кто выигрывает</a:t>
            </a:r>
            <a:endParaRPr lang="en-US" sz="1500" dirty="0"/>
          </a:p>
        </p:txBody>
      </p:sp>
      <p:sp>
        <p:nvSpPr>
          <p:cNvPr id="7" name="Модель 1"/>
          <p:cNvSpPr/>
          <p:nvPr/>
        </p:nvSpPr>
        <p:spPr>
          <a:xfrm>
            <a:off x="8001000" y="2286000"/>
            <a:ext cx="3547872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5171C">
                <a:alpha val="12000"/>
              </a:srgbClr>
            </a:outerShdw>
          </a:effectLst>
        </p:spPr>
      </p:sp>
      <p:sp>
        <p:nvSpPr>
          <p:cNvPr id="8" name="Модель 1 круг"/>
          <p:cNvSpPr/>
          <p:nvPr/>
        </p:nvSpPr>
        <p:spPr>
          <a:xfrm>
            <a:off x="8156448" y="2587752"/>
            <a:ext cx="548640" cy="548640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9" name="Модель 1 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7149" y="2708453"/>
            <a:ext cx="307238" cy="307238"/>
          </a:xfrm>
          <a:prstGeom prst="rect">
            <a:avLst/>
          </a:prstGeom>
        </p:spPr>
      </p:pic>
      <p:sp>
        <p:nvSpPr>
          <p:cNvPr id="10" name="Модель 1 текст"/>
          <p:cNvSpPr txBox="1"/>
          <p:nvPr/>
        </p:nvSpPr>
        <p:spPr>
          <a:xfrm>
            <a:off x="8869680" y="22860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Жители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приложение бесплатно</a:t>
            </a:r>
            <a:endParaRPr lang="en-US" sz="1700" dirty="0"/>
          </a:p>
        </p:txBody>
      </p:sp>
      <p:sp>
        <p:nvSpPr>
          <p:cNvPr id="11" name="Модель 2"/>
          <p:cNvSpPr/>
          <p:nvPr/>
        </p:nvSpPr>
        <p:spPr>
          <a:xfrm>
            <a:off x="8001000" y="3657600"/>
            <a:ext cx="3547872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5171C">
                <a:alpha val="12000"/>
              </a:srgbClr>
            </a:outerShdw>
          </a:effectLst>
        </p:spPr>
      </p:sp>
      <p:sp>
        <p:nvSpPr>
          <p:cNvPr id="12" name="Модель 2 круг"/>
          <p:cNvSpPr/>
          <p:nvPr/>
        </p:nvSpPr>
        <p:spPr>
          <a:xfrm>
            <a:off x="8156448" y="3959352"/>
            <a:ext cx="548640" cy="548640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13" name="Модель 2 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149" y="4080053"/>
            <a:ext cx="307238" cy="307238"/>
          </a:xfrm>
          <a:prstGeom prst="rect">
            <a:avLst/>
          </a:prstGeom>
        </p:spPr>
      </p:pic>
      <p:sp>
        <p:nvSpPr>
          <p:cNvPr id="14" name="Модель 2 текст"/>
          <p:cNvSpPr txBox="1"/>
          <p:nvPr/>
        </p:nvSpPr>
        <p:spPr>
          <a:xfrm>
            <a:off x="8869680" y="36576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Хокимият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годовая подписка: карта спроса и изменения маршрутов</a:t>
            </a:r>
            <a:endParaRPr lang="en-US" sz="1700" dirty="0"/>
          </a:p>
        </p:txBody>
      </p:sp>
      <p:sp>
        <p:nvSpPr>
          <p:cNvPr id="15" name="Модель 3"/>
          <p:cNvSpPr/>
          <p:nvPr/>
        </p:nvSpPr>
        <p:spPr>
          <a:xfrm>
            <a:off x="8001000" y="5029200"/>
            <a:ext cx="3547872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5171C">
                <a:alpha val="12000"/>
              </a:srgbClr>
            </a:outerShdw>
          </a:effectLst>
        </p:spPr>
      </p:sp>
      <p:sp>
        <p:nvSpPr>
          <p:cNvPr id="16" name="Модель 3 круг"/>
          <p:cNvSpPr/>
          <p:nvPr/>
        </p:nvSpPr>
        <p:spPr>
          <a:xfrm>
            <a:off x="8156448" y="5330952"/>
            <a:ext cx="548640" cy="548640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17" name="Модель 3 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49" y="5451653"/>
            <a:ext cx="307238" cy="307238"/>
          </a:xfrm>
          <a:prstGeom prst="rect">
            <a:avLst/>
          </a:prstGeom>
        </p:spPr>
      </p:pic>
      <p:sp>
        <p:nvSpPr>
          <p:cNvPr id="18" name="Модель 3 текст"/>
          <p:cNvSpPr txBox="1"/>
          <p:nvPr/>
        </p:nvSpPr>
        <p:spPr>
          <a:xfrm>
            <a:off x="8869680" y="5029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Перевозчики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больше пассажиров, подключение GPS-данных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BEKAT 2.0 · УЖЕ В ПРОТОТИПЕ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Табло, экран в автобусе и данные для города</a:t>
            </a:r>
            <a:endParaRPr lang="en-US" sz="3600" dirty="0"/>
          </a:p>
        </p:txBody>
      </p:sp>
      <p:pic>
        <p:nvPicPr>
          <p:cNvPr id="4" name="Экран 1" descr="Скриншот прототипа: Табло на остановк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023360" cy="22631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8000"/>
              </a:srgbClr>
            </a:outerShdw>
          </a:effectLst>
        </p:spPr>
      </p:pic>
      <p:sp>
        <p:nvSpPr>
          <p:cNvPr id="5" name="Подпись 1"/>
          <p:cNvSpPr txBox="1"/>
          <p:nvPr/>
        </p:nvSpPr>
        <p:spPr>
          <a:xfrm>
            <a:off x="749808" y="3525012"/>
            <a:ext cx="2103120" cy="320040"/>
          </a:xfrm>
          <a:prstGeom prst="roundRect">
            <a:avLst>
              <a:gd name="adj" fmla="val 22857"/>
            </a:avLst>
          </a:prstGeom>
          <a:solidFill>
            <a:schemeClr val="tx2">
              <a:alpha val="92000"/>
            </a:schemeClr>
          </a:solidFill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Табло на остановке</a:t>
            </a:r>
            <a:endParaRPr lang="en-US" sz="1200" dirty="0"/>
          </a:p>
        </p:txBody>
      </p:sp>
      <p:pic>
        <p:nvPicPr>
          <p:cNvPr id="6" name="Экран 2" descr="Скриншот прототипа: Экран в салон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91640"/>
            <a:ext cx="4023360" cy="22631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8000"/>
              </a:srgbClr>
            </a:outerShdw>
          </a:effectLst>
        </p:spPr>
      </p:pic>
      <p:sp>
        <p:nvSpPr>
          <p:cNvPr id="7" name="Подпись 2"/>
          <p:cNvSpPr txBox="1"/>
          <p:nvPr/>
        </p:nvSpPr>
        <p:spPr>
          <a:xfrm>
            <a:off x="4910328" y="3525012"/>
            <a:ext cx="2103120" cy="320040"/>
          </a:xfrm>
          <a:prstGeom prst="roundRect">
            <a:avLst>
              <a:gd name="adj" fmla="val 22857"/>
            </a:avLst>
          </a:prstGeom>
          <a:solidFill>
            <a:schemeClr val="tx2">
              <a:alpha val="92000"/>
            </a:schemeClr>
          </a:solidFill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Экран в салоне</a:t>
            </a:r>
            <a:endParaRPr lang="en-US" sz="1200" dirty="0"/>
          </a:p>
        </p:txBody>
      </p:sp>
      <p:pic>
        <p:nvPicPr>
          <p:cNvPr id="8" name="Экран 3" descr="Скриншот прототипа: Карта спрос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91940"/>
            <a:ext cx="4023360" cy="22631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8000"/>
              </a:srgbClr>
            </a:outerShdw>
          </a:effectLst>
        </p:spPr>
      </p:pic>
      <p:sp>
        <p:nvSpPr>
          <p:cNvPr id="9" name="Подпись 3"/>
          <p:cNvSpPr txBox="1"/>
          <p:nvPr/>
        </p:nvSpPr>
        <p:spPr>
          <a:xfrm>
            <a:off x="749808" y="5925312"/>
            <a:ext cx="2103120" cy="320040"/>
          </a:xfrm>
          <a:prstGeom prst="roundRect">
            <a:avLst>
              <a:gd name="adj" fmla="val 22857"/>
            </a:avLst>
          </a:prstGeom>
          <a:solidFill>
            <a:schemeClr val="tx2">
              <a:alpha val="92000"/>
            </a:schemeClr>
          </a:solidFill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Карта спроса</a:t>
            </a:r>
            <a:endParaRPr lang="en-US" sz="1200" dirty="0"/>
          </a:p>
        </p:txBody>
      </p:sp>
      <p:pic>
        <p:nvPicPr>
          <p:cNvPr id="10" name="Экран 4" descr="Скриншот прототипа: Маршруты от жителе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091940"/>
            <a:ext cx="4023360" cy="22631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8000"/>
              </a:srgbClr>
            </a:outerShdw>
          </a:effectLst>
        </p:spPr>
      </p:pic>
      <p:sp>
        <p:nvSpPr>
          <p:cNvPr id="11" name="Подпись 4"/>
          <p:cNvSpPr txBox="1"/>
          <p:nvPr/>
        </p:nvSpPr>
        <p:spPr>
          <a:xfrm>
            <a:off x="4910328" y="5925312"/>
            <a:ext cx="2103120" cy="320040"/>
          </a:xfrm>
          <a:prstGeom prst="roundRect">
            <a:avLst>
              <a:gd name="adj" fmla="val 22857"/>
            </a:avLst>
          </a:prstGeom>
          <a:solidFill>
            <a:schemeClr val="tx2">
              <a:alpha val="92000"/>
            </a:schemeClr>
          </a:solidFill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 Маршруты от жителей</a:t>
            </a:r>
            <a:endParaRPr lang="en-US" sz="1200" dirty="0"/>
          </a:p>
        </p:txBody>
      </p:sp>
      <p:sp>
        <p:nvSpPr>
          <p:cNvPr id="12" name="Bekat 2.0 1 круг"/>
          <p:cNvSpPr/>
          <p:nvPr/>
        </p:nvSpPr>
        <p:spPr>
          <a:xfrm>
            <a:off x="9144000" y="1709928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3" name="Bekat 2.0 1 иконк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584" y="1810512"/>
            <a:ext cx="256032" cy="256032"/>
          </a:xfrm>
          <a:prstGeom prst="rect">
            <a:avLst/>
          </a:prstGeom>
        </p:spPr>
      </p:pic>
      <p:sp>
        <p:nvSpPr>
          <p:cNvPr id="14" name="Bekat 2.0 текст 1"/>
          <p:cNvSpPr txBox="1"/>
          <p:nvPr/>
        </p:nvSpPr>
        <p:spPr>
          <a:xfrm>
            <a:off x="9738360" y="169164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Табло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любой экран с браузером: какой автобус, через сколько минут, куда идёт; междугородние рейсы</a:t>
            </a:r>
            <a:endParaRPr lang="en-US" sz="1500" dirty="0"/>
          </a:p>
        </p:txBody>
      </p:sp>
      <p:sp>
        <p:nvSpPr>
          <p:cNvPr id="15" name="Bekat 2.0 2 круг"/>
          <p:cNvSpPr/>
          <p:nvPr/>
        </p:nvSpPr>
        <p:spPr>
          <a:xfrm>
            <a:off x="9144000" y="2715768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6" name="Bekat 2.0 2 иконка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584" y="2816352"/>
            <a:ext cx="256032" cy="256032"/>
          </a:xfrm>
          <a:prstGeom prst="rect">
            <a:avLst/>
          </a:prstGeom>
        </p:spPr>
      </p:pic>
      <p:sp>
        <p:nvSpPr>
          <p:cNvPr id="17" name="Bekat 2.0 текст 2"/>
          <p:cNvSpPr txBox="1"/>
          <p:nvPr/>
        </p:nvSpPr>
        <p:spPr>
          <a:xfrm>
            <a:off x="9738360" y="269748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В салоне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следующая остановка крупно, пересадки, вся линия</a:t>
            </a:r>
            <a:endParaRPr lang="en-US" sz="1500" dirty="0"/>
          </a:p>
        </p:txBody>
      </p:sp>
      <p:sp>
        <p:nvSpPr>
          <p:cNvPr id="18" name="Bekat 2.0 3 круг"/>
          <p:cNvSpPr/>
          <p:nvPr/>
        </p:nvSpPr>
        <p:spPr>
          <a:xfrm>
            <a:off x="9144000" y="3721608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9" name="Bekat 2.0 3 иконка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4584" y="3822192"/>
            <a:ext cx="256032" cy="256032"/>
          </a:xfrm>
          <a:prstGeom prst="rect">
            <a:avLst/>
          </a:prstGeom>
        </p:spPr>
      </p:pic>
      <p:sp>
        <p:nvSpPr>
          <p:cNvPr id="20" name="Bekat 2.0 текст 3"/>
          <p:cNvSpPr txBox="1"/>
          <p:nvPr/>
        </p:nvSpPr>
        <p:spPr>
          <a:xfrm>
            <a:off x="9738360" y="370332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Для хокимията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где ищут, но автобуса нет — довод для новой остановки</a:t>
            </a:r>
            <a:endParaRPr lang="en-US" sz="1500" dirty="0"/>
          </a:p>
        </p:txBody>
      </p:sp>
      <p:sp>
        <p:nvSpPr>
          <p:cNvPr id="21" name="Bekat 2.0 4 круг"/>
          <p:cNvSpPr/>
          <p:nvPr/>
        </p:nvSpPr>
        <p:spPr>
          <a:xfrm>
            <a:off x="9144000" y="4727448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2" name="Bekat 2.0 4 иконка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584" y="4828032"/>
            <a:ext cx="256032" cy="256032"/>
          </a:xfrm>
          <a:prstGeom prst="rect">
            <a:avLst/>
          </a:prstGeom>
        </p:spPr>
      </p:pic>
      <p:sp>
        <p:nvSpPr>
          <p:cNvPr id="23" name="Bekat 2.0 текст 4"/>
          <p:cNvSpPr txBox="1"/>
          <p:nvPr/>
        </p:nvSpPr>
        <p:spPr>
          <a:xfrm>
            <a:off x="9738360" y="470916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От жителей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дамасы и маршрутки: добавляют и подтверждают</a:t>
            </a:r>
            <a:endParaRPr lang="en-US" sz="1500" dirty="0"/>
          </a:p>
        </p:txBody>
      </p:sp>
      <p:sp>
        <p:nvSpPr>
          <p:cNvPr id="24" name="Пометка пример"/>
          <p:cNvSpPr txBox="1"/>
          <p:nvPr/>
        </p:nvSpPr>
        <p:spPr>
          <a:xfrm>
            <a:off x="9144000" y="5897880"/>
            <a:ext cx="2404872" cy="457200"/>
          </a:xfrm>
          <a:prstGeom prst="roundRect">
            <a:avLst>
              <a:gd name="adj" fmla="val 16000"/>
            </a:avLst>
          </a:prstGeom>
          <a:solidFill>
            <a:schemeClr val="accent4">
              <a:alpha val="18000"/>
            </a:schemeClr>
          </a:solidFill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Пример: данные на этих экранах — демонстрационные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"/>
          <p:cNvSpPr txBox="1"/>
          <p:nvPr/>
        </p:nvSpPr>
        <p:spPr>
          <a:xfrm>
            <a:off x="640080" y="548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СТАТУС</a:t>
            </a:r>
            <a:endParaRPr lang="en-US" sz="1300" dirty="0"/>
          </a:p>
        </p:txBody>
      </p:sp>
      <p:sp>
        <p:nvSpPr>
          <p:cNvPr id="3" name="Заголовок"/>
          <p:cNvSpPr txBox="1"/>
          <p:nvPr/>
        </p:nvSpPr>
        <p:spPr>
          <a:xfrm>
            <a:off x="640080" y="91440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работает — дальше пилот со 100+ пассажирами</a:t>
            </a:r>
            <a:endParaRPr lang="en-US" sz="3600" dirty="0"/>
          </a:p>
        </p:txBody>
      </p:sp>
      <p:sp>
        <p:nvSpPr>
          <p:cNvPr id="4" name="Статус 1"/>
          <p:cNvSpPr txBox="1"/>
          <p:nvPr/>
        </p:nvSpPr>
        <p:spPr>
          <a:xfrm>
            <a:off x="640080" y="25146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6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маршрутов (3 подтверждённых)</a:t>
            </a:r>
            <a:endParaRPr lang="en-US" sz="4000" dirty="0"/>
          </a:p>
        </p:txBody>
      </p:sp>
      <p:sp>
        <p:nvSpPr>
          <p:cNvPr id="5" name="Статус 2"/>
          <p:cNvSpPr txBox="1"/>
          <p:nvPr/>
        </p:nvSpPr>
        <p:spPr>
          <a:xfrm>
            <a:off x="3063240" y="25146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36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остановок на карте</a:t>
            </a:r>
            <a:endParaRPr lang="en-US" sz="4000" dirty="0"/>
          </a:p>
        </p:txBody>
      </p:sp>
      <p:sp>
        <p:nvSpPr>
          <p:cNvPr id="6" name="Статус 3"/>
          <p:cNvSpPr txBox="1"/>
          <p:nvPr/>
        </p:nvSpPr>
        <p:spPr>
          <a:xfrm>
            <a:off x="5486400" y="25146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69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мест в поиске</a:t>
            </a:r>
            <a:endParaRPr lang="en-US" sz="4000" dirty="0"/>
          </a:p>
        </p:txBody>
      </p:sp>
      <p:sp>
        <p:nvSpPr>
          <p:cNvPr id="7" name="План"/>
          <p:cNvSpPr txBox="1"/>
          <p:nvPr/>
        </p:nvSpPr>
        <p:spPr>
          <a:xfrm>
            <a:off x="640080" y="38404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Дальше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GPS-сбор маршрутов и междугородних рейсов → пилот → маршруты от жителей и карта спроса → GPS автобусов и табло → Андижан, Фергана</a:t>
            </a:r>
            <a:endParaRPr lang="en-US" sz="1700" dirty="0"/>
          </a:p>
        </p:txBody>
      </p:sp>
      <p:pic>
        <p:nvPicPr>
          <p:cNvPr id="8" name="Значок" descr="/home/abraxis/Desktop/Bekat/docs/studexpo/assets/icon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349240"/>
            <a:ext cx="868680" cy="868680"/>
          </a:xfrm>
          <a:prstGeom prst="rect">
            <a:avLst/>
          </a:prstGeom>
        </p:spPr>
      </p:pic>
      <p:sp>
        <p:nvSpPr>
          <p:cNvPr id="9" name="Контакты"/>
          <p:cNvSpPr txBox="1"/>
          <p:nvPr/>
        </p:nvSpPr>
        <p:spPr>
          <a:xfrm>
            <a:off x="1691640" y="53492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Кодиров Улугбек — автор · Замалитдинов Салим — соавтор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+998 90 555 80 91 · salzamov@gmail.com</a:t>
            </a:r>
            <a:endParaRPr lang="en-US" sz="1700" dirty="0"/>
          </a:p>
        </p:txBody>
      </p:sp>
      <p:sp>
        <p:nvSpPr>
          <p:cNvPr id="10" name="Карточка QR"/>
          <p:cNvSpPr/>
          <p:nvPr/>
        </p:nvSpPr>
        <p:spPr>
          <a:xfrm>
            <a:off x="8366760" y="914400"/>
            <a:ext cx="3182112" cy="4526280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/>
        </p:spPr>
      </p:sp>
      <p:pic>
        <p:nvPicPr>
          <p:cNvPr id="11" name="QR-код" descr="QR-код: zedrubilan.github.io/bek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1188720"/>
            <a:ext cx="2651760" cy="2651760"/>
          </a:xfrm>
          <a:prstGeom prst="rect">
            <a:avLst/>
          </a:prstGeom>
        </p:spPr>
      </p:pic>
      <p:sp>
        <p:nvSpPr>
          <p:cNvPr id="12" name="Подпись QR"/>
          <p:cNvSpPr txBox="1"/>
          <p:nvPr/>
        </p:nvSpPr>
        <p:spPr>
          <a:xfrm>
            <a:off x="8549640" y="4069080"/>
            <a:ext cx="2816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Скачайте и попробуйте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Android, iPhone и браузер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zedrubilan.github.io/bekat</a:t>
            </a:r>
            <a:endParaRPr lang="en-US" sz="2000" dirty="0"/>
          </a:p>
        </p:txBody>
      </p:sp>
      <p:sp>
        <p:nvSpPr>
          <p:cNvPr id="13" name="Спасибо"/>
          <p:cNvSpPr txBox="1"/>
          <p:nvPr/>
        </p:nvSpPr>
        <p:spPr>
          <a:xfrm>
            <a:off x="8366760" y="562356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Спасибо!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kat">
  <a:themeElements>
    <a:clrScheme name="Bekat">
      <a:dk1>
        <a:srgbClr val="15171C"/>
      </a:dk1>
      <a:lt1>
        <a:srgbClr val="FFFFFF"/>
      </a:lt1>
      <a:dk2>
        <a:srgbClr val="1E2024"/>
      </a:dk2>
      <a:lt2>
        <a:srgbClr val="EEF1F6"/>
      </a:lt2>
      <a:accent1>
        <a:srgbClr val="2D6BF0"/>
      </a:accent1>
      <a:accent2>
        <a:srgbClr val="E53935"/>
      </a:accent2>
      <a:accent3>
        <a:srgbClr val="22A55B"/>
      </a:accent3>
      <a:accent4>
        <a:srgbClr val="F59E0B"/>
      </a:accent4>
      <a:accent5>
        <a:srgbClr val="8B5CF6"/>
      </a:accent5>
      <a:accent6>
        <a:srgbClr val="5B6270"/>
      </a:accent6>
      <a:hlink>
        <a:srgbClr val="2D6BF0"/>
      </a:hlink>
      <a:folHlink>
        <a:srgbClr val="8B5CF6"/>
      </a:folHlink>
    </a:clrScheme>
    <a:fontScheme name="Beka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Bekat — StudEXPO-2026</dc:title>
  <dc:subject>PptxGenJS Presentation</dc:subject>
  <dc:creator>Кодиров Улугбек, Замалитдинов Салим</dc:creator>
  <cp:lastModifiedBy>Кодиров Улугбек, Замалитдинов Салим</cp:lastModifiedBy>
  <cp:revision>1</cp:revision>
  <dcterms:created xsi:type="dcterms:W3CDTF">2026-10-22T13:05:58Z</dcterms:created>
  <dcterms:modified xsi:type="dcterms:W3CDTF">2026-10-22T13:05:58Z</dcterms:modified>
</cp:coreProperties>
</file>