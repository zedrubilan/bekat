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Kirish" id="{1dc19241-0fc0-8a72-10b5-ccd1653b75f9}">
          <p14:sldIdLst>
            <p14:sldId id="256"/>
          </p14:sldIdLst>
        </p14:section>
        <p14:section name="Muammo" id="{c4799e7e-443b-5ea6-556e-787af0fc0932}">
          <p14:sldIdLst>
            <p14:sldId id="257"/>
            <p14:sldId id="258"/>
          </p14:sldIdLst>
        </p14:section>
        <p14:section name="Yechim" id="{5d000e77-1244-07db-1d90-6099017d041d}">
          <p14:sldIdLst>
            <p14:sldId id="259"/>
            <p14:sldId id="260"/>
            <p14:sldId id="261"/>
            <p14:sldId id="262"/>
          </p14:sldIdLst>
        </p14:section>
        <p14:section name="Texnologiya" id="{b627429d-0b09-9207-2895-0430517e1c22}">
          <p14:sldIdLst>
            <p14:sldId id="263"/>
          </p14:sldIdLst>
        </p14:section>
        <p14:section name="Bozor" id="{c909cfee-d60d-ce9d-5d63-edffa143ea9c}">
          <p14:sldIdLst>
            <p14:sldId id="264"/>
            <p14:sldId id="265"/>
          </p14:sldIdLst>
        </p14:section>
        <p14:section name="Reja" id="{7880b3e7-28f4-a5ed-33dc-18b5e64b0a1c}">
          <p14:sldIdLst>
            <p14:sldId id="266"/>
            <p14:sldId id="267"/>
            <p14:sldId id="268"/>
          </p14:sldIdLst>
        </p14:section>
        <p14:section name="Yakun" id="{c1223418-be21-cdfb-f97b-34f2252cd3f6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mln so‘m</c:v>
                </c:pt>
              </c:strCache>
            </c:strRef>
          </c:tx>
          <c:spPr>
            <a:solidFill>
              <a:srgbClr val="2D6BF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7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Dala tadqiqoti</c:v>
                  </c:pt>
                  <c:pt idx="1">
                    <c:v>3D dizayn</c:v>
                  </c:pt>
                  <c:pt idx="2">
                    <c:v>Xarita xizmatlari</c:v>
                  </c:pt>
                  <c:pt idx="3">
                    <c:v>Server (VPS)</c:v>
                  </c:pt>
                  <c:pt idx="4">
                    <c:v>Pilot sinov</c:v>
                  </c:pt>
                  <c:pt idx="5">
                    <c:v>Do‘kon akkauntlari</c:v>
                  </c:pt>
                  <c:pt idx="6">
                    <c:v>Kutilmagan</c:v>
                  </c:pt>
                  <c:pt idx="7">
                    <c:v>EHM guvohnomasi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</c:v>
                </c:pt>
                <c:pt idx="1">
                  <c:v>3</c:v>
                </c:pt>
                <c:pt idx="2">
                  <c:v>2.4</c:v>
                </c:pt>
                <c:pt idx="3">
                  <c:v>2.1</c:v>
                </c:pt>
                <c:pt idx="4">
                  <c:v>2</c:v>
                </c:pt>
                <c:pt idx="5">
                  <c:v>1.6</c:v>
                </c:pt>
                <c:pt idx="6">
                  <c:v>1.5</c:v>
                </c:pt>
                <c:pt idx="7">
                  <c:v>1.4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517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2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Assalomu alaykum. Loyihamiz — Bekat: Namangan shahri avtobuslari uchun aqlli marshrut xaritasi.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Namanganda jamoat transporti tez yangilanmoqda, lekin yo‘lovchi uchun eng oddiy savolga javob beradigan sodda vosita yo‘q.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KAT_LIGH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270"/>
                </a:solidFill>
              </a:rPr>
              <a:t>Bekat · Qodirov Ulug‘bek, Zamalitdinov Salim · NamDTU, 37-ATT-23 (r) ·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KAT_WHIT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270"/>
                </a:solidFill>
              </a:rPr>
              <a:t>Bekat · Qodirov Ulug‘bek, Zamalitdinov Salim · NamDTU, 37-ATT-23 (r) ·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KAT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A1AE"/>
                </a:solidFill>
              </a:rPr>
              <a:t>“ENG YAXSHI KREATIV G‘OYA” RESPUBLIKA TANLOVI · 2026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09728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Bekat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6DAE2"/>
                </a:solidFill>
              </a:rPr>
              <a:t>Namangan avtobuslari uchun aqlli marshrut xaritasi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4612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69264" y="324612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D6BF0"/>
          </a:solidFill>
          <a:ln w="12700">
            <a:solidFill>
              <a:srgbClr val="2D6B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9264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389888" y="324612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2A55B"/>
          </a:solidFill>
          <a:ln w="12700">
            <a:solidFill>
              <a:srgbClr val="22A5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89888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810512" y="324612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10512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231136" y="324612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31136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651760" y="324612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651760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9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251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1AE"/>
                </a:solidFill>
              </a:rPr>
              <a:t>Qodirov Ulug‘bek, Zamalitdinov Salim · NamDTU, 37-ATT-23 (r) guruhi</a:t>
            </a:r>
            <a:endParaRPr lang="en-US" sz="1200" dirty="0"/>
          </a:p>
        </p:txBody>
      </p:sp>
      <p:pic>
        <p:nvPicPr>
          <p:cNvPr id="18" name="bus" descr="/home/abraxis/Desktop/Bekat/docs/assets/b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2880360"/>
            <a:ext cx="2240280" cy="1865376"/>
          </a:xfrm>
          <a:prstGeom prst="rect">
            <a:avLst/>
          </a:prstGeom>
        </p:spPr>
      </p:pic>
      <p:pic>
        <p:nvPicPr>
          <p:cNvPr id="19" name="phone" descr="/home/abraxis/Desktop/Bekat/docs/assets/phone_02_home_u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74320"/>
            <a:ext cx="2194560" cy="42153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2A55B"/>
          </a:solidFill>
          <a:ln w="12700">
            <a:solidFill>
              <a:srgbClr val="22A5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MUAMMO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“Qaysi avtobus? Qayerda almashaman?”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Shaharda yangi avtobuslar ko‘paymoqda, yo‘nalishlar qayta tuzilmoqda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Manzilga to‘g‘ridan-to‘g‘ri avtobus bo‘lmasa, odamlar taksiga o‘tadi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Almashinuvli yo‘lni sodda ko‘rsatadigan vosita yo‘q</a:t>
            </a:r>
            <a:endParaRPr lang="en-US" sz="1600" dirty="0"/>
          </a:p>
        </p:txBody>
      </p:sp>
      <p:pic>
        <p:nvPicPr>
          <p:cNvPr id="7" name="city map" descr="/home/abraxis/Desktop/Bekat/docs/assets/map_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1554480"/>
            <a:ext cx="3840480" cy="23957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74920" y="3611880"/>
            <a:ext cx="3200400" cy="566928"/>
          </a:xfrm>
          <a:prstGeom prst="roundRect">
            <a:avLst>
              <a:gd name="adj" fmla="val 2903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4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074920" y="3611880"/>
            <a:ext cx="32004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Chorsudan Yuksalishga qanday boraman?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RAQAMLAR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Tarmoq o‘smoqda — ma’lumot esa yo‘q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874520" cy="2011680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8745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731,3 ming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Namangan shahri aholisi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06040" y="1691640"/>
            <a:ext cx="1874520" cy="2011680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70632" y="18745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130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2770632" y="27889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zamonaviy avtobus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691640"/>
            <a:ext cx="1874520" cy="2011680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28032" y="18745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10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4828032" y="27889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brutto-shartnomali yo‘nalish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20840" y="1691640"/>
            <a:ext cx="1874520" cy="2011680"/>
          </a:xfrm>
          <a:prstGeom prst="roundRect">
            <a:avLst>
              <a:gd name="adj" fmla="val 97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85432" y="18745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7CE0A3"/>
                </a:solidFill>
              </a:rPr>
              <a:t>0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6885432" y="27889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DAE2"/>
                </a:solidFill>
              </a:rPr>
              <a:t>yo‘nalish ochiq xaritada (OSM)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270"/>
                </a:solidFill>
              </a:rPr>
              <a:t>Manbalar: namstat.uz (01.04.2026), yuz.uz (03.10.2026), gazeta.uz (24.09.2026), OpenStreetMap so‘rovi (14.10.2026)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YECHIM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Manzilni tanlang — yo‘lni ko‘ring</a:t>
            </a:r>
            <a:endParaRPr lang="en-US" sz="2800" dirty="0"/>
          </a:p>
        </p:txBody>
      </p:sp>
      <p:pic>
        <p:nvPicPr>
          <p:cNvPr id="6" name="phone 02_home" descr="/home/abraxis/Desktop/Bekat/docs/assets/phone_02_home_u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1517904" cy="29169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58568" y="251460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Xarita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</a:rPr>
              <a:t>3D shahar, jonli avtobuslar</a:t>
            </a:r>
            <a:endParaRPr lang="en-US" sz="1500" dirty="0"/>
          </a:p>
        </p:txBody>
      </p:sp>
      <p:pic>
        <p:nvPicPr>
          <p:cNvPr id="8" name="phone 05_plan" descr="/home/abraxis/Desktop/Bekat/docs/assets/phone_05_plan_u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463040"/>
            <a:ext cx="1517904" cy="291693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47488" y="251460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Variantlar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</a:rPr>
              <a:t>avtobus + almashinuv + piyoda</a:t>
            </a:r>
            <a:endParaRPr lang="en-US" sz="1500" dirty="0"/>
          </a:p>
        </p:txBody>
      </p:sp>
      <p:pic>
        <p:nvPicPr>
          <p:cNvPr id="10" name="phone 06_trip" descr="/home/abraxis/Desktop/Bekat/docs/assets/phone_06_trip_uz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63040"/>
            <a:ext cx="1517904" cy="291693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836408" y="251460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Yo‘lda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</a:rPr>
              <a:t>qolgan bekatlar va vaqt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ASOSIY G‘OYA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To‘g‘ri avtobus bo‘lmasa ham — yo‘l bor</a:t>
            </a:r>
            <a:endParaRPr lang="en-US" sz="2800" dirty="0"/>
          </a:p>
        </p:txBody>
      </p:sp>
      <p:pic>
        <p:nvPicPr>
          <p:cNvPr id="6" name="Image 0" descr="/home/abraxis/Desktop/Bekat/docs/assets/phone_05_plan_u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1600200" cy="307238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743200" y="1645920"/>
            <a:ext cx="384048" cy="38404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74320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1600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Almashinuv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Bir nechta avtobusni birlashtiradi: №9 bilan vokzalgacha, so‘ng №7 ga o‘tiladi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743200" y="2606040"/>
            <a:ext cx="384048" cy="384048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74320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291840" y="256032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Eng yaqin nuqta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Avtobus bormaydigan joyga ham eng yaqin bekatgacha olib boradi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2743200" y="3566160"/>
            <a:ext cx="384048" cy="384048"/>
          </a:xfrm>
          <a:prstGeom prst="ellipse">
            <a:avLst/>
          </a:prstGeom>
          <a:solidFill>
            <a:srgbClr val="22A55B"/>
          </a:solidFill>
          <a:ln w="12700">
            <a:solidFill>
              <a:srgbClr val="22A55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74320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291840" y="352044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Tez va oflayn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RAPTOR algoritmi telefon ichida, 1 soniyadan kam vaqtda hisoblaydi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METRO USLUBIDAGI SXEMA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Butun tarmoq — bitta sxemada</a:t>
            </a:r>
            <a:endParaRPr lang="en-US" sz="2800" dirty="0"/>
          </a:p>
        </p:txBody>
      </p:sp>
      <p:pic>
        <p:nvPicPr>
          <p:cNvPr id="6" name="scheme" descr="/home/abraxis/Desktop/Bekat/docs/assets/scheme_u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4681728" cy="3200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806440" y="148132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8064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236208" y="1426464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71C"/>
                </a:solidFill>
              </a:rPr>
              <a:t>Otchopar – Taxtako‘prik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22A55B"/>
                </a:solidFill>
              </a:rPr>
              <a:t>tasdiqlangan yo‘nalish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806440" y="1956816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1E6FE8"/>
          </a:solidFill>
          <a:ln w="12700">
            <a:solidFill>
              <a:srgbClr val="1E6FE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806440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236208" y="190195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71C"/>
                </a:solidFill>
              </a:rPr>
              <a:t>Otchopar – Chorsu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22A55B"/>
                </a:solidFill>
              </a:rPr>
              <a:t>tasdiqlangan yo‘nalish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806440" y="2432304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2A55B"/>
          </a:solidFill>
          <a:ln w="12700">
            <a:solidFill>
              <a:srgbClr val="22A55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806440" y="2432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236208" y="23774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71C"/>
                </a:solidFill>
              </a:rPr>
              <a:t>Yuksalish – Chorsu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22A55B"/>
                </a:solidFill>
              </a:rPr>
              <a:t>tasdiqlangan yo‘nalish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806440" y="2907792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806440" y="2907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236208" y="285292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71C"/>
                </a:solidFill>
              </a:rPr>
              <a:t>Aeroport – Lola bozori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9AA1AE"/>
                </a:solidFill>
              </a:rPr>
              <a:t>namuna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806440" y="338328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06440" y="3383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236208" y="3328416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71C"/>
                </a:solidFill>
              </a:rPr>
              <a:t>Gulbog‘ – Temir yo‘l vokzali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9AA1AE"/>
                </a:solidFill>
              </a:rPr>
              <a:t>namuna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806440" y="385876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806440" y="3858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9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6236208" y="3803904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71C"/>
                </a:solidFill>
              </a:rPr>
              <a:t>Yangi Namangan – Viloyat bolalar kasalxonasi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9AA1AE"/>
                </a:solidFill>
              </a:rPr>
              <a:t>namuna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5806440" y="43708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270"/>
                </a:solidFill>
              </a:rPr>
              <a:t>Oraliq bekatlar — dala tadqiqotigacha namuna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D6BF0"/>
          </a:solidFill>
          <a:ln w="12700">
            <a:solidFill>
              <a:srgbClr val="2D6BF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3D JONLI XARITA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Shahar xuddi o‘yindagidek</a:t>
            </a:r>
            <a:endParaRPr lang="en-US" sz="2800" dirty="0"/>
          </a:p>
        </p:txBody>
      </p:sp>
      <p:pic>
        <p:nvPicPr>
          <p:cNvPr id="6" name="Image 0" descr="/home/abraxis/Desktop/Bekat/docs/assets/map_cent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206240" y="1417320"/>
            <a:ext cx="4389120" cy="2743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155448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Avtobuslar xaritada harakatlanadi (qatnov jadvali asosida)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Har bir bekatda — keyingi avtobusgacha necha daqiqa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Kam matn, katta tugmalar: keksalar ham, bolalar ham tushunadi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O‘zbek, rus, ingliz tillari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2A55B"/>
          </a:solidFill>
          <a:ln w="12700">
            <a:solidFill>
              <a:srgbClr val="22A5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TEXNOLOGIYA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Qanday ishlaydi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828800" cy="1828800"/>
          </a:xfrm>
          <a:prstGeom prst="roundRect">
            <a:avLst>
              <a:gd name="adj" fmla="val 9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87452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304288"/>
            <a:ext cx="1508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Ma’lumot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</a:rPr>
              <a:t>Bekatlar va yo‘nalishlar GPS bilan yig‘iladi (GTFS format)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395728" y="2606040"/>
            <a:ext cx="192024" cy="0"/>
          </a:xfrm>
          <a:prstGeom prst="line">
            <a:avLst/>
          </a:prstGeom>
          <a:noFill/>
          <a:ln w="19050">
            <a:solidFill>
              <a:srgbClr val="9AA1AE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606040" y="1691640"/>
            <a:ext cx="1828800" cy="1828800"/>
          </a:xfrm>
          <a:prstGeom prst="roundRect">
            <a:avLst>
              <a:gd name="adj" fmla="val 9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88920" y="187452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D6BF0"/>
          </a:solidFill>
          <a:ln w="12700">
            <a:solidFill>
              <a:srgbClr val="2D6B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88920" y="2304288"/>
            <a:ext cx="1508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Telefonda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</a:rPr>
              <a:t>Marshrut algoritmi va jadval — internetsiz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453128" y="2606040"/>
            <a:ext cx="192024" cy="0"/>
          </a:xfrm>
          <a:prstGeom prst="line">
            <a:avLst/>
          </a:prstGeom>
          <a:noFill/>
          <a:ln w="19050">
            <a:solidFill>
              <a:srgbClr val="9AA1AE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663440" y="1691640"/>
            <a:ext cx="1828800" cy="1828800"/>
          </a:xfrm>
          <a:prstGeom prst="roundRect">
            <a:avLst>
              <a:gd name="adj" fmla="val 9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46320" y="187452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A55B"/>
          </a:solidFill>
          <a:ln w="12700">
            <a:solidFill>
              <a:srgbClr val="22A55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2304288"/>
            <a:ext cx="1508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Xarita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</a:rPr>
              <a:t>MapLibre + OpenStreetMap, 3D binolar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10528" y="2606040"/>
            <a:ext cx="192024" cy="0"/>
          </a:xfrm>
          <a:prstGeom prst="line">
            <a:avLst/>
          </a:prstGeom>
          <a:noFill/>
          <a:ln w="19050">
            <a:solidFill>
              <a:srgbClr val="9AA1AE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720840" y="1691640"/>
            <a:ext cx="1828800" cy="1828800"/>
          </a:xfrm>
          <a:prstGeom prst="roundRect">
            <a:avLst>
              <a:gd name="adj" fmla="val 9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03720" y="187452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03720" y="2304288"/>
            <a:ext cx="1508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Shahar uchun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</a:rPr>
              <a:t>Anonim “talab xaritasi” hokimlikka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3840480"/>
            <a:ext cx="8001000" cy="502920"/>
          </a:xfrm>
          <a:prstGeom prst="roundRect">
            <a:avLst>
              <a:gd name="adj" fmla="val 2727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384048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Flutter: Android · iOS · Web — bitta kod bazasi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ANALOGLAR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Bekatning farqi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645920"/>
                <a:gridCol w="1645920"/>
                <a:gridCol w="21031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Yandex Xaritalar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OSM ilovalari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Bekat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BF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Namanganda jonli avtobus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Bor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Yo‘q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C"/>
                          </a:solidFill>
                        </a:rPr>
                        <a:t>Jadval asosida; GPS — 2-bosqich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Butun tarmoq sxemasi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Yo‘q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Yo‘q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C"/>
                          </a:solidFill>
                        </a:rPr>
                        <a:t>Bor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“Eng yaqin nuqta” rejimi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—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—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C"/>
                          </a:solidFill>
                        </a:rPr>
                        <a:t>Bor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Shahar uchun talab tahlili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Yo‘q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Yo‘q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C"/>
                          </a:solidFill>
                        </a:rPr>
                        <a:t>Bor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Namangan yo‘nalishlari bazasi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Yopiq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0 yo‘nalish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C"/>
                          </a:solidFill>
                        </a:rPr>
                        <a:t>Ochiq, yangilanadi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E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BIZNES MODEL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Aholiga bepul — shaharga foydali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2542032" cy="2103120"/>
          </a:xfrm>
          <a:prstGeom prst="roundRect">
            <a:avLst>
              <a:gd name="adj" fmla="val 869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4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87452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Aholi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Ilova bepul. Reklama faqat bekatlar atrofidagi mahalliy biznesdan.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273552" y="1645920"/>
            <a:ext cx="2542032" cy="2103120"/>
          </a:xfrm>
          <a:prstGeom prst="roundRect">
            <a:avLst>
              <a:gd name="adj" fmla="val 869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4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02152" y="187452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Hokimlik va transport boshqarmasi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D6DAE2"/>
                </a:solidFill>
              </a:rPr>
              <a:t>Yillik B2G obuna: talab xaritasi, yo‘nalish o‘zgarishlari haqida xabar berish.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98464" y="1645920"/>
            <a:ext cx="2542032" cy="2103120"/>
          </a:xfrm>
          <a:prstGeom prst="roundRect">
            <a:avLst>
              <a:gd name="adj" fmla="val 869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4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27064" y="187452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Tashuvchilar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Ko‘proq yo‘lovchi; GPS ma’lumotlarini ulash orqali hamkorlik.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REJA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3 oyda: prototipdan pilotgacha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7406640" cy="0"/>
          </a:xfrm>
          <a:prstGeom prst="line">
            <a:avLst/>
          </a:prstGeom>
          <a:noFill/>
          <a:ln w="76200">
            <a:solidFill>
              <a:srgbClr val="22A55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176272"/>
            <a:ext cx="310896" cy="3108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5171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" y="1691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1–3 hafta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10312" y="265176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70"/>
                </a:solidFill>
              </a:rPr>
              <a:t>Barcha yo‘nalishlar va bekatlarni GPS bilan yig‘ish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194560" y="2176272"/>
            <a:ext cx="310896" cy="3108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5171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709928" y="1691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3–5 hafta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265176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70"/>
                </a:solidFill>
              </a:rPr>
              <a:t>Ilova karkasi, qidiruv, 3 til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75888" y="2176272"/>
            <a:ext cx="310896" cy="3108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5171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91256" y="1691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6–7 hafta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172968" y="265176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70"/>
                </a:solidFill>
              </a:rPr>
              <a:t>Almashinuvli marshrut, oflayn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157216" y="2176272"/>
            <a:ext cx="310896" cy="3108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5171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72584" y="1691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8 hafta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654296" y="265176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70"/>
                </a:solidFill>
              </a:rPr>
              <a:t>Sxema, 3D, reliz (APK + veb)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638544" y="2176272"/>
            <a:ext cx="310896" cy="3108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5171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53912" y="1691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9–12 hafta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135624" y="265176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70"/>
                </a:solidFill>
              </a:rPr>
              <a:t>100+ foydalanuvchi bilan pilot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19872" y="2176272"/>
            <a:ext cx="310896" cy="3108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9AA1A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35240" y="1691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Keyin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616952" y="265176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70"/>
                </a:solidFill>
              </a:rPr>
              <a:t>Real vaqt GPS, Andijon, Farg‘ona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SMETA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18 mln so‘m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Eng katta qism — dala tadqiqoti va dizayn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737360"/>
          <a:ext cx="80467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D6BF0"/>
          </a:solidFill>
          <a:ln w="12700">
            <a:solidFill>
              <a:srgbClr val="2D6BF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13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HOLAT VA KPI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Prototip allaqachon ishlaydi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✓  Ishlaydigan ilova: Android, iOS, veb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✓  6 yo‘nalish, 36 bekat, 69 joy qidiruvda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✓  Almashinuvli marshrut va metro sxemasi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✓  Avtomatik testlar: 7 / 7 o‘tdi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554480"/>
            <a:ext cx="1874520" cy="10972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645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D6BF0"/>
                </a:solidFill>
              </a:rPr>
              <a:t>100%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</a:rPr>
              <a:t>shahar yo‘nalishlari raqamlashtiriladi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675120" y="1554480"/>
            <a:ext cx="1874520" cy="10972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12280" y="1645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D6BF0"/>
                </a:solidFill>
              </a:rPr>
              <a:t>&lt; 1 s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</a:rPr>
              <a:t>marshrut hisoblash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663440" y="2788920"/>
            <a:ext cx="1874520" cy="10972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28803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D6BF0"/>
                </a:solidFill>
              </a:rPr>
              <a:t>100+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</a:rPr>
              <a:t>faol pilot foydalanuvchi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6675120" y="2788920"/>
            <a:ext cx="1874520" cy="10972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12280" y="28803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D6BF0"/>
                </a:solidFill>
              </a:rPr>
              <a:t>80%+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</a:rPr>
              <a:t>“kerakli yo‘lni topdim”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40690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270"/>
                </a:solidFill>
              </a:rPr>
              <a:t>Maqsadli ko‘rsatkichlar — pilotdan keyin o‘lchanadi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abraxis/Desktop/Bekat/docs/assets/b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411480"/>
            <a:ext cx="2377440" cy="197510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0" y="2514600"/>
            <a:ext cx="1600200" cy="2057400"/>
          </a:xfrm>
          <a:prstGeom prst="roundRect">
            <a:avLst>
              <a:gd name="adj" fmla="val 9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QR download" descr="/home/abraxis/Desktop/Bekat/docs/assets/qr_downlo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2624328"/>
            <a:ext cx="1380744" cy="138074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446520" y="4041648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5171C"/>
                </a:solidFill>
              </a:rPr>
              <a:t>Skanerlang — ilovani yuklab oling</a:t>
            </a:r>
            <a:endParaRPr lang="en-US" sz="950" dirty="0"/>
          </a:p>
        </p:txBody>
      </p:sp>
      <p:sp>
        <p:nvSpPr>
          <p:cNvPr id="6" name="title"/>
          <p:cNvSpPr txBox="1"/>
          <p:nvPr/>
        </p:nvSpPr>
        <p:spPr>
          <a:xfrm>
            <a:off x="548640" y="82296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Bekat — Namangan bo‘ylab oson yo‘l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3317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6DAE2"/>
                </a:solidFill>
              </a:rPr>
              <a:t>Hamkorlarni taklif qilamiz: shahar hokimligi, viloyat transport boshqarmasi, avtobus tashuvchilari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70332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Qodirov Ulug‘bek — muallif · Zamalitdinov Salim — hammuallif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9AA1AE"/>
                </a:solidFill>
              </a:rPr>
              <a:t>+998 90 555 80 91 · salzamov@gmail.com · github.com/ZedRubilan/bekat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kat">
  <a:themeElements>
    <a:clrScheme name="Bekat">
      <a:dk1>
        <a:srgbClr val="15171C"/>
      </a:dk1>
      <a:lt1>
        <a:srgbClr val="FFFFFF"/>
      </a:lt1>
      <a:dk2>
        <a:srgbClr val="1E2024"/>
      </a:dk2>
      <a:lt2>
        <a:srgbClr val="EEF1F6"/>
      </a:lt2>
      <a:accent1>
        <a:srgbClr val="2D6BF0"/>
      </a:accent1>
      <a:accent2>
        <a:srgbClr val="E53935"/>
      </a:accent2>
      <a:accent3>
        <a:srgbClr val="22A55B"/>
      </a:accent3>
      <a:accent4>
        <a:srgbClr val="F59E0B"/>
      </a:accent4>
      <a:accent5>
        <a:srgbClr val="8B5CF6"/>
      </a:accent5>
      <a:accent6>
        <a:srgbClr val="06B6D4"/>
      </a:accent6>
      <a:hlink>
        <a:srgbClr val="2D6BF0"/>
      </a:hlink>
      <a:folHlink>
        <a:srgbClr val="8B5CF6"/>
      </a:folHlink>
    </a:clrScheme>
    <a:fontScheme name="Beka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Bekat</dc:title>
  <dc:subject>PptxGenJS Presentation</dc:subject>
  <dc:creator>Qodirov Ulug‘bek, Zamalitdinov Salim</dc:creator>
  <cp:lastModifiedBy>Qodirov Ulug‘bek, Zamalitdinov Salim</cp:lastModifiedBy>
  <cp:revision>1</cp:revision>
  <dcterms:created xsi:type="dcterms:W3CDTF">2026-10-14T13:08:38Z</dcterms:created>
  <dcterms:modified xsi:type="dcterms:W3CDTF">2026-10-14T13:08:38Z</dcterms:modified>
</cp:coreProperties>
</file>